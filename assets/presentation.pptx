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76" r:id="rId5"/>
    <p:sldId id="257" r:id="rId6"/>
    <p:sldId id="268" r:id="rId7"/>
    <p:sldId id="271" r:id="rId8"/>
    <p:sldId id="277" r:id="rId9"/>
    <p:sldId id="288" r:id="rId10"/>
    <p:sldId id="295" r:id="rId11"/>
    <p:sldId id="297" r:id="rId12"/>
    <p:sldId id="296" r:id="rId13"/>
    <p:sldId id="290" r:id="rId14"/>
    <p:sldId id="294" r:id="rId15"/>
    <p:sldId id="283" r:id="rId16"/>
  </p:sldIdLst>
  <p:sldSz cx="12188825" cy="6858000"/>
  <p:notesSz cx="6858000" cy="9144000"/>
  <p:defaultTextStyle>
    <a:defPPr rtl="0">
      <a:defRPr lang="cs-cz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6F6F6F"/>
    <a:srgbClr val="C5C5C5"/>
    <a:srgbClr val="262626"/>
    <a:srgbClr val="00A499"/>
    <a:srgbClr val="05C8E4"/>
    <a:srgbClr val="009999"/>
    <a:srgbClr val="00A59A"/>
    <a:srgbClr val="080F21"/>
    <a:srgbClr val="050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84483" autoAdjust="0"/>
  </p:normalViewPr>
  <p:slideViewPr>
    <p:cSldViewPr>
      <p:cViewPr varScale="1">
        <p:scale>
          <a:sx n="159" d="100"/>
          <a:sy n="159" d="100"/>
        </p:scale>
        <p:origin x="306" y="1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750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ula Pavel" userId="d9301610-42c3-4922-8e2c-37bc5d809dca" providerId="ADAL" clId="{A91997AB-EA76-46AC-9F25-1226726C6B12}"/>
    <pc:docChg chg="modSld">
      <pc:chgData name="Mikula Pavel" userId="d9301610-42c3-4922-8e2c-37bc5d809dca" providerId="ADAL" clId="{A91997AB-EA76-46AC-9F25-1226726C6B12}" dt="2025-05-11T22:17:08.248" v="0" actId="14826"/>
      <pc:docMkLst>
        <pc:docMk/>
      </pc:docMkLst>
      <pc:sldChg chg="modSp mod">
        <pc:chgData name="Mikula Pavel" userId="d9301610-42c3-4922-8e2c-37bc5d809dca" providerId="ADAL" clId="{A91997AB-EA76-46AC-9F25-1226726C6B12}" dt="2025-05-11T22:17:08.248" v="0" actId="14826"/>
        <pc:sldMkLst>
          <pc:docMk/>
          <pc:sldMk cId="2837171638" sldId="297"/>
        </pc:sldMkLst>
        <pc:picChg chg="mod">
          <ac:chgData name="Mikula Pavel" userId="d9301610-42c3-4922-8e2c-37bc5d809dca" providerId="ADAL" clId="{A91997AB-EA76-46AC-9F25-1226726C6B12}" dt="2025-05-11T22:17:08.248" v="0" actId="14826"/>
          <ac:picMkLst>
            <pc:docMk/>
            <pc:sldMk cId="2837171638" sldId="297"/>
            <ac:picMk id="10" creationId="{42A34BF4-A0F3-5465-2F98-7061E8BAA52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A01D1-7F24-4582-80C2-09AB510F59D2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B6E64E-56DB-4634-8D93-433CC6C28EFF}">
      <dgm:prSet/>
      <dgm:spPr/>
      <dgm:t>
        <a:bodyPr/>
        <a:lstStyle/>
        <a:p>
          <a:r>
            <a:rPr lang="cs-CZ" dirty="0"/>
            <a:t>Vytvořit aplikační rozhraní</a:t>
          </a:r>
          <a:endParaRPr lang="en-US" dirty="0"/>
        </a:p>
      </dgm:t>
    </dgm:pt>
    <dgm:pt modelId="{A5379D10-4905-448A-8846-E694A7EAC574}" type="parTrans" cxnId="{597490C9-2AA0-4467-B3C3-C2B524313FA9}">
      <dgm:prSet/>
      <dgm:spPr/>
      <dgm:t>
        <a:bodyPr/>
        <a:lstStyle/>
        <a:p>
          <a:endParaRPr lang="en-US"/>
        </a:p>
      </dgm:t>
    </dgm:pt>
    <dgm:pt modelId="{C6B868CC-C152-4C00-9FE9-39C3E3713AD5}" type="sibTrans" cxnId="{597490C9-2AA0-4467-B3C3-C2B524313FA9}">
      <dgm:prSet/>
      <dgm:spPr/>
      <dgm:t>
        <a:bodyPr/>
        <a:lstStyle/>
        <a:p>
          <a:endParaRPr lang="en-US"/>
        </a:p>
      </dgm:t>
    </dgm:pt>
    <dgm:pt modelId="{5CD28CDE-37AB-466D-A5A9-24198E792EEC}">
      <dgm:prSet/>
      <dgm:spPr/>
      <dgm:t>
        <a:bodyPr/>
        <a:lstStyle/>
        <a:p>
          <a:r>
            <a:rPr lang="cs-CZ" dirty="0"/>
            <a:t>Vizualizace dat pomocí grafických prvků</a:t>
          </a:r>
          <a:endParaRPr lang="en-US" dirty="0"/>
        </a:p>
      </dgm:t>
    </dgm:pt>
    <dgm:pt modelId="{F60D1FDC-5BA0-4773-B0D6-485864108070}" type="parTrans" cxnId="{09A91CA5-334D-4EB4-817A-39B20871C6FA}">
      <dgm:prSet/>
      <dgm:spPr/>
      <dgm:t>
        <a:bodyPr/>
        <a:lstStyle/>
        <a:p>
          <a:endParaRPr lang="en-US"/>
        </a:p>
      </dgm:t>
    </dgm:pt>
    <dgm:pt modelId="{C0CE64BF-9360-467A-8A62-C1A97B4F0B1A}" type="sibTrans" cxnId="{09A91CA5-334D-4EB4-817A-39B20871C6FA}">
      <dgm:prSet/>
      <dgm:spPr/>
      <dgm:t>
        <a:bodyPr/>
        <a:lstStyle/>
        <a:p>
          <a:endParaRPr lang="en-US"/>
        </a:p>
      </dgm:t>
    </dgm:pt>
    <dgm:pt modelId="{6E2CEFA9-110E-4583-A30A-D2A42D44F79F}">
      <dgm:prSet/>
      <dgm:spPr/>
      <dgm:t>
        <a:bodyPr/>
        <a:lstStyle/>
        <a:p>
          <a:r>
            <a:rPr lang="cs-CZ" dirty="0"/>
            <a:t>Efektivní vyhledávaní a filtrování vzorků</a:t>
          </a:r>
          <a:endParaRPr lang="en-US" dirty="0"/>
        </a:p>
      </dgm:t>
    </dgm:pt>
    <dgm:pt modelId="{89F521A7-D9D6-4CCF-8F8D-43C77875D5EF}" type="parTrans" cxnId="{6ACAE723-C593-41A5-A2D9-3FDCF8F53887}">
      <dgm:prSet/>
      <dgm:spPr/>
      <dgm:t>
        <a:bodyPr/>
        <a:lstStyle/>
        <a:p>
          <a:endParaRPr lang="en-US"/>
        </a:p>
      </dgm:t>
    </dgm:pt>
    <dgm:pt modelId="{06FCAA25-DE76-4656-ACDA-F8769CEEF914}" type="sibTrans" cxnId="{6ACAE723-C593-41A5-A2D9-3FDCF8F53887}">
      <dgm:prSet/>
      <dgm:spPr/>
      <dgm:t>
        <a:bodyPr/>
        <a:lstStyle/>
        <a:p>
          <a:endParaRPr lang="en-US"/>
        </a:p>
      </dgm:t>
    </dgm:pt>
    <dgm:pt modelId="{3D9AB5DB-763F-42C9-AA5B-E5A05168BDFC}">
      <dgm:prSet/>
      <dgm:spPr/>
      <dgm:t>
        <a:bodyPr/>
        <a:lstStyle/>
        <a:p>
          <a:r>
            <a:rPr lang="cs-CZ" dirty="0"/>
            <a:t>Efektivní práce s daty</a:t>
          </a:r>
          <a:endParaRPr lang="en-US" dirty="0"/>
        </a:p>
      </dgm:t>
    </dgm:pt>
    <dgm:pt modelId="{D7DFCDA7-6BC7-45D5-A6B3-8720A8E4731D}" type="parTrans" cxnId="{1B6C1BF4-282E-4B04-9CBF-756EA0703A5D}">
      <dgm:prSet/>
      <dgm:spPr/>
      <dgm:t>
        <a:bodyPr/>
        <a:lstStyle/>
        <a:p>
          <a:endParaRPr lang="en-US"/>
        </a:p>
      </dgm:t>
    </dgm:pt>
    <dgm:pt modelId="{9F59F808-A701-464E-9B2F-C1F02EB88D3A}" type="sibTrans" cxnId="{1B6C1BF4-282E-4B04-9CBF-756EA0703A5D}">
      <dgm:prSet/>
      <dgm:spPr/>
      <dgm:t>
        <a:bodyPr/>
        <a:lstStyle/>
        <a:p>
          <a:endParaRPr lang="en-US"/>
        </a:p>
      </dgm:t>
    </dgm:pt>
    <dgm:pt modelId="{54D02827-FBD9-4D67-AF0B-9A04C830A05B}">
      <dgm:prSet/>
      <dgm:spPr/>
      <dgm:t>
        <a:bodyPr/>
        <a:lstStyle/>
        <a:p>
          <a:r>
            <a:rPr lang="cs-CZ" dirty="0"/>
            <a:t>Export dat</a:t>
          </a:r>
          <a:endParaRPr lang="en-US" dirty="0"/>
        </a:p>
      </dgm:t>
    </dgm:pt>
    <dgm:pt modelId="{704E524F-DB3B-4A0A-85D8-4D8AE7810C45}" type="parTrans" cxnId="{A05FAEE8-21A8-418D-95F8-043D854827B0}">
      <dgm:prSet/>
      <dgm:spPr/>
      <dgm:t>
        <a:bodyPr/>
        <a:lstStyle/>
        <a:p>
          <a:endParaRPr lang="en-US"/>
        </a:p>
      </dgm:t>
    </dgm:pt>
    <dgm:pt modelId="{1102DF9C-5981-47E3-A13E-E73D86027ACB}" type="sibTrans" cxnId="{A05FAEE8-21A8-418D-95F8-043D854827B0}">
      <dgm:prSet/>
      <dgm:spPr/>
      <dgm:t>
        <a:bodyPr/>
        <a:lstStyle/>
        <a:p>
          <a:endParaRPr lang="en-US"/>
        </a:p>
      </dgm:t>
    </dgm:pt>
    <dgm:pt modelId="{6DE6A6AE-21CC-4523-ABD5-B7B0138F7CCA}">
      <dgm:prSet/>
      <dgm:spPr/>
      <dgm:t>
        <a:bodyPr/>
        <a:lstStyle/>
        <a:p>
          <a:r>
            <a:rPr lang="cs-CZ" dirty="0"/>
            <a:t>Export dat do obrázku</a:t>
          </a:r>
          <a:endParaRPr lang="en-US" dirty="0"/>
        </a:p>
      </dgm:t>
    </dgm:pt>
    <dgm:pt modelId="{4A99C65B-2122-419E-99DE-2C1904E36BA9}" type="parTrans" cxnId="{545B1B4F-459B-448F-9751-C457DF78CC43}">
      <dgm:prSet/>
      <dgm:spPr/>
      <dgm:t>
        <a:bodyPr/>
        <a:lstStyle/>
        <a:p>
          <a:endParaRPr lang="en-US"/>
        </a:p>
      </dgm:t>
    </dgm:pt>
    <dgm:pt modelId="{A70BEEE4-E7CA-4248-8CB6-0176FD2F9B04}" type="sibTrans" cxnId="{545B1B4F-459B-448F-9751-C457DF78CC43}">
      <dgm:prSet/>
      <dgm:spPr/>
      <dgm:t>
        <a:bodyPr/>
        <a:lstStyle/>
        <a:p>
          <a:endParaRPr lang="en-US"/>
        </a:p>
      </dgm:t>
    </dgm:pt>
    <dgm:pt modelId="{83F4B01A-2425-4E5B-8647-576A253B1970}">
      <dgm:prSet/>
      <dgm:spPr/>
      <dgm:t>
        <a:bodyPr/>
        <a:lstStyle/>
        <a:p>
          <a:r>
            <a:rPr lang="cs-CZ" dirty="0"/>
            <a:t>Postupné načítání dat (</a:t>
          </a:r>
          <a:r>
            <a:rPr lang="cs-CZ" dirty="0" err="1"/>
            <a:t>lazy</a:t>
          </a:r>
          <a:r>
            <a:rPr lang="cs-CZ" dirty="0"/>
            <a:t> </a:t>
          </a:r>
          <a:r>
            <a:rPr lang="cs-CZ" dirty="0" err="1"/>
            <a:t>loading</a:t>
          </a:r>
          <a:r>
            <a:rPr lang="cs-CZ" dirty="0"/>
            <a:t>)</a:t>
          </a:r>
          <a:endParaRPr lang="en-US" dirty="0"/>
        </a:p>
      </dgm:t>
    </dgm:pt>
    <dgm:pt modelId="{B7AF2979-ADF4-4199-A31B-5C95094A9C9C}" type="parTrans" cxnId="{28674DB4-0696-4661-8B17-D0A7BCA76A2D}">
      <dgm:prSet/>
      <dgm:spPr/>
      <dgm:t>
        <a:bodyPr/>
        <a:lstStyle/>
        <a:p>
          <a:endParaRPr lang="en-GB"/>
        </a:p>
      </dgm:t>
    </dgm:pt>
    <dgm:pt modelId="{97A4123A-5DDB-4C39-8AD5-2F4143A5B03C}" type="sibTrans" cxnId="{28674DB4-0696-4661-8B17-D0A7BCA76A2D}">
      <dgm:prSet/>
      <dgm:spPr/>
      <dgm:t>
        <a:bodyPr/>
        <a:lstStyle/>
        <a:p>
          <a:endParaRPr lang="en-GB"/>
        </a:p>
      </dgm:t>
    </dgm:pt>
    <dgm:pt modelId="{96E978F6-0A72-4AFE-9D52-74BCBE35D2C8}">
      <dgm:prSet/>
      <dgm:spPr/>
      <dgm:t>
        <a:bodyPr/>
        <a:lstStyle/>
        <a:p>
          <a:r>
            <a:rPr lang="cs-CZ" dirty="0"/>
            <a:t>Neblokující zobrazení průběhu procesu načítání</a:t>
          </a:r>
          <a:endParaRPr lang="en-US" dirty="0"/>
        </a:p>
      </dgm:t>
    </dgm:pt>
    <dgm:pt modelId="{F4C5B363-0703-41A0-B0D9-D3C6B95C7F55}" type="parTrans" cxnId="{1D364D8D-2CA6-49EC-B4CC-01044691A392}">
      <dgm:prSet/>
      <dgm:spPr/>
      <dgm:t>
        <a:bodyPr/>
        <a:lstStyle/>
        <a:p>
          <a:endParaRPr lang="cs-CZ"/>
        </a:p>
      </dgm:t>
    </dgm:pt>
    <dgm:pt modelId="{96B9DFE5-0A0E-4A86-98EC-5C31EFB77C2B}" type="sibTrans" cxnId="{1D364D8D-2CA6-49EC-B4CC-01044691A392}">
      <dgm:prSet/>
      <dgm:spPr/>
      <dgm:t>
        <a:bodyPr/>
        <a:lstStyle/>
        <a:p>
          <a:endParaRPr lang="cs-CZ"/>
        </a:p>
      </dgm:t>
    </dgm:pt>
    <dgm:pt modelId="{F332E76A-E4C0-4832-AB6B-63E93B6E5FC8}">
      <dgm:prSet/>
      <dgm:spPr/>
      <dgm:t>
        <a:bodyPr/>
        <a:lstStyle/>
        <a:p>
          <a:r>
            <a:rPr lang="cs-CZ" dirty="0"/>
            <a:t>Přehledný design</a:t>
          </a:r>
          <a:endParaRPr lang="en-US" dirty="0"/>
        </a:p>
      </dgm:t>
    </dgm:pt>
    <dgm:pt modelId="{B3ACDF4D-6D38-4FDC-A09E-83CE0D41C6C6}" type="parTrans" cxnId="{7CD64C6A-6D50-45D3-BE01-3B0D7393FB70}">
      <dgm:prSet/>
      <dgm:spPr/>
      <dgm:t>
        <a:bodyPr/>
        <a:lstStyle/>
        <a:p>
          <a:endParaRPr lang="cs-CZ"/>
        </a:p>
      </dgm:t>
    </dgm:pt>
    <dgm:pt modelId="{1933A69A-D452-448E-886D-65A90A19B357}" type="sibTrans" cxnId="{7CD64C6A-6D50-45D3-BE01-3B0D7393FB70}">
      <dgm:prSet/>
      <dgm:spPr/>
      <dgm:t>
        <a:bodyPr/>
        <a:lstStyle/>
        <a:p>
          <a:endParaRPr lang="cs-CZ"/>
        </a:p>
      </dgm:t>
    </dgm:pt>
    <dgm:pt modelId="{D0373430-53BC-4BA2-A7E8-A348EAD5C217}" type="pres">
      <dgm:prSet presAssocID="{2FCA01D1-7F24-4582-80C2-09AB510F59D2}" presName="linear" presStyleCnt="0">
        <dgm:presLayoutVars>
          <dgm:dir/>
          <dgm:animLvl val="lvl"/>
          <dgm:resizeHandles val="exact"/>
        </dgm:presLayoutVars>
      </dgm:prSet>
      <dgm:spPr/>
    </dgm:pt>
    <dgm:pt modelId="{1511210E-FD07-4A51-907D-2EB3C5626FD0}" type="pres">
      <dgm:prSet presAssocID="{9CB6E64E-56DB-4634-8D93-433CC6C28EFF}" presName="parentLin" presStyleCnt="0"/>
      <dgm:spPr/>
    </dgm:pt>
    <dgm:pt modelId="{F50CA8F1-6026-4D55-9506-A57973C8DE64}" type="pres">
      <dgm:prSet presAssocID="{9CB6E64E-56DB-4634-8D93-433CC6C28EFF}" presName="parentLeftMargin" presStyleLbl="node1" presStyleIdx="0" presStyleCnt="3"/>
      <dgm:spPr/>
    </dgm:pt>
    <dgm:pt modelId="{B5205501-48A9-4AB1-83C0-72B995A2E59D}" type="pres">
      <dgm:prSet presAssocID="{9CB6E64E-56DB-4634-8D93-433CC6C28EF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DD2308-0D1B-434C-AFF8-23525B8EFB2B}" type="pres">
      <dgm:prSet presAssocID="{9CB6E64E-56DB-4634-8D93-433CC6C28EFF}" presName="negativeSpace" presStyleCnt="0"/>
      <dgm:spPr/>
    </dgm:pt>
    <dgm:pt modelId="{5F668531-05CF-44A0-B669-72880FE433B9}" type="pres">
      <dgm:prSet presAssocID="{9CB6E64E-56DB-4634-8D93-433CC6C28EFF}" presName="childText" presStyleLbl="conFgAcc1" presStyleIdx="0" presStyleCnt="3">
        <dgm:presLayoutVars>
          <dgm:bulletEnabled val="1"/>
        </dgm:presLayoutVars>
      </dgm:prSet>
      <dgm:spPr/>
    </dgm:pt>
    <dgm:pt modelId="{B8FF46F5-27DA-48B2-99B0-556CA9320F73}" type="pres">
      <dgm:prSet presAssocID="{C6B868CC-C152-4C00-9FE9-39C3E3713AD5}" presName="spaceBetweenRectangles" presStyleCnt="0"/>
      <dgm:spPr/>
    </dgm:pt>
    <dgm:pt modelId="{4DA48D86-09C4-4C96-BF75-B68D12EBC4B3}" type="pres">
      <dgm:prSet presAssocID="{3D9AB5DB-763F-42C9-AA5B-E5A05168BDFC}" presName="parentLin" presStyleCnt="0"/>
      <dgm:spPr/>
    </dgm:pt>
    <dgm:pt modelId="{6F053ED1-B169-4648-A718-7ADB11332EC2}" type="pres">
      <dgm:prSet presAssocID="{3D9AB5DB-763F-42C9-AA5B-E5A05168BDFC}" presName="parentLeftMargin" presStyleLbl="node1" presStyleIdx="0" presStyleCnt="3"/>
      <dgm:spPr/>
    </dgm:pt>
    <dgm:pt modelId="{F8ECD314-8F56-44E6-9766-82CCB98F2A12}" type="pres">
      <dgm:prSet presAssocID="{3D9AB5DB-763F-42C9-AA5B-E5A05168BD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84078A-78D0-468A-892A-BCA8458B8277}" type="pres">
      <dgm:prSet presAssocID="{3D9AB5DB-763F-42C9-AA5B-E5A05168BDFC}" presName="negativeSpace" presStyleCnt="0"/>
      <dgm:spPr/>
    </dgm:pt>
    <dgm:pt modelId="{F259EF07-0305-4265-B17D-FEBECCF37728}" type="pres">
      <dgm:prSet presAssocID="{3D9AB5DB-763F-42C9-AA5B-E5A05168BDFC}" presName="childText" presStyleLbl="conFgAcc1" presStyleIdx="1" presStyleCnt="3">
        <dgm:presLayoutVars>
          <dgm:bulletEnabled val="1"/>
        </dgm:presLayoutVars>
      </dgm:prSet>
      <dgm:spPr/>
    </dgm:pt>
    <dgm:pt modelId="{53B1C3E7-8C5D-4B64-93B2-33D932AA6101}" type="pres">
      <dgm:prSet presAssocID="{9F59F808-A701-464E-9B2F-C1F02EB88D3A}" presName="spaceBetweenRectangles" presStyleCnt="0"/>
      <dgm:spPr/>
    </dgm:pt>
    <dgm:pt modelId="{5DA0BB93-945F-462E-A727-EB36325FE68C}" type="pres">
      <dgm:prSet presAssocID="{54D02827-FBD9-4D67-AF0B-9A04C830A05B}" presName="parentLin" presStyleCnt="0"/>
      <dgm:spPr/>
    </dgm:pt>
    <dgm:pt modelId="{F43667FF-603D-44C6-9778-46A68776CE6D}" type="pres">
      <dgm:prSet presAssocID="{54D02827-FBD9-4D67-AF0B-9A04C830A05B}" presName="parentLeftMargin" presStyleLbl="node1" presStyleIdx="1" presStyleCnt="3"/>
      <dgm:spPr/>
    </dgm:pt>
    <dgm:pt modelId="{BE996C52-09C7-4829-8330-5EA828035AE9}" type="pres">
      <dgm:prSet presAssocID="{54D02827-FBD9-4D67-AF0B-9A04C830A0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8B36970-1742-413A-AABB-8021A1FD0D75}" type="pres">
      <dgm:prSet presAssocID="{54D02827-FBD9-4D67-AF0B-9A04C830A05B}" presName="negativeSpace" presStyleCnt="0"/>
      <dgm:spPr/>
    </dgm:pt>
    <dgm:pt modelId="{078C5135-ACA6-41A1-8720-88664DFAFB35}" type="pres">
      <dgm:prSet presAssocID="{54D02827-FBD9-4D67-AF0B-9A04C830A0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3EAA908-27A3-4208-8B98-FBC40E513590}" type="presOf" srcId="{54D02827-FBD9-4D67-AF0B-9A04C830A05B}" destId="{F43667FF-603D-44C6-9778-46A68776CE6D}" srcOrd="0" destOrd="0" presId="urn:microsoft.com/office/officeart/2005/8/layout/list1"/>
    <dgm:cxn modelId="{1E7F1D09-3C17-42D5-8902-4518C23414C0}" type="presOf" srcId="{3D9AB5DB-763F-42C9-AA5B-E5A05168BDFC}" destId="{F8ECD314-8F56-44E6-9766-82CCB98F2A12}" srcOrd="1" destOrd="0" presId="urn:microsoft.com/office/officeart/2005/8/layout/list1"/>
    <dgm:cxn modelId="{3634FC09-FA20-497A-8289-6AC15EDA8D5F}" type="presOf" srcId="{3D9AB5DB-763F-42C9-AA5B-E5A05168BDFC}" destId="{6F053ED1-B169-4648-A718-7ADB11332EC2}" srcOrd="0" destOrd="0" presId="urn:microsoft.com/office/officeart/2005/8/layout/list1"/>
    <dgm:cxn modelId="{67884115-9B5D-4268-A57C-34E6E43DB33A}" type="presOf" srcId="{9CB6E64E-56DB-4634-8D93-433CC6C28EFF}" destId="{B5205501-48A9-4AB1-83C0-72B995A2E59D}" srcOrd="1" destOrd="0" presId="urn:microsoft.com/office/officeart/2005/8/layout/list1"/>
    <dgm:cxn modelId="{3B6B0B23-3C6B-4BF5-A96B-783F72BC35BC}" type="presOf" srcId="{6E2CEFA9-110E-4583-A30A-D2A42D44F79F}" destId="{5F668531-05CF-44A0-B669-72880FE433B9}" srcOrd="0" destOrd="1" presId="urn:microsoft.com/office/officeart/2005/8/layout/list1"/>
    <dgm:cxn modelId="{6ACAE723-C593-41A5-A2D9-3FDCF8F53887}" srcId="{9CB6E64E-56DB-4634-8D93-433CC6C28EFF}" destId="{6E2CEFA9-110E-4583-A30A-D2A42D44F79F}" srcOrd="1" destOrd="0" parTransId="{89F521A7-D9D6-4CCF-8F8D-43C77875D5EF}" sibTransId="{06FCAA25-DE76-4656-ACDA-F8769CEEF914}"/>
    <dgm:cxn modelId="{EE877A63-2A09-475A-B457-EEDA15B516D6}" type="presOf" srcId="{5CD28CDE-37AB-466D-A5A9-24198E792EEC}" destId="{5F668531-05CF-44A0-B669-72880FE433B9}" srcOrd="0" destOrd="0" presId="urn:microsoft.com/office/officeart/2005/8/layout/list1"/>
    <dgm:cxn modelId="{9A70C743-8749-4CAC-A901-AA0D1D41B641}" type="presOf" srcId="{F332E76A-E4C0-4832-AB6B-63E93B6E5FC8}" destId="{5F668531-05CF-44A0-B669-72880FE433B9}" srcOrd="0" destOrd="2" presId="urn:microsoft.com/office/officeart/2005/8/layout/list1"/>
    <dgm:cxn modelId="{D4CDC445-52B4-4E48-94B7-8E261BC9EEBA}" type="presOf" srcId="{9CB6E64E-56DB-4634-8D93-433CC6C28EFF}" destId="{F50CA8F1-6026-4D55-9506-A57973C8DE64}" srcOrd="0" destOrd="0" presId="urn:microsoft.com/office/officeart/2005/8/layout/list1"/>
    <dgm:cxn modelId="{7CD64C6A-6D50-45D3-BE01-3B0D7393FB70}" srcId="{9CB6E64E-56DB-4634-8D93-433CC6C28EFF}" destId="{F332E76A-E4C0-4832-AB6B-63E93B6E5FC8}" srcOrd="2" destOrd="0" parTransId="{B3ACDF4D-6D38-4FDC-A09E-83CE0D41C6C6}" sibTransId="{1933A69A-D452-448E-886D-65A90A19B357}"/>
    <dgm:cxn modelId="{48F5C84B-2A4D-4833-9935-A2152AD90D27}" type="presOf" srcId="{54D02827-FBD9-4D67-AF0B-9A04C830A05B}" destId="{BE996C52-09C7-4829-8330-5EA828035AE9}" srcOrd="1" destOrd="0" presId="urn:microsoft.com/office/officeart/2005/8/layout/list1"/>
    <dgm:cxn modelId="{545B1B4F-459B-448F-9751-C457DF78CC43}" srcId="{54D02827-FBD9-4D67-AF0B-9A04C830A05B}" destId="{6DE6A6AE-21CC-4523-ABD5-B7B0138F7CCA}" srcOrd="0" destOrd="0" parTransId="{4A99C65B-2122-419E-99DE-2C1904E36BA9}" sibTransId="{A70BEEE4-E7CA-4248-8CB6-0176FD2F9B04}"/>
    <dgm:cxn modelId="{E81B9787-3B9D-4DD9-8FB9-3C96DAA9DA72}" type="presOf" srcId="{6DE6A6AE-21CC-4523-ABD5-B7B0138F7CCA}" destId="{078C5135-ACA6-41A1-8720-88664DFAFB35}" srcOrd="0" destOrd="0" presId="urn:microsoft.com/office/officeart/2005/8/layout/list1"/>
    <dgm:cxn modelId="{A278A08A-BADF-4CA9-BD1F-192CCF4D2368}" type="presOf" srcId="{96E978F6-0A72-4AFE-9D52-74BCBE35D2C8}" destId="{F259EF07-0305-4265-B17D-FEBECCF37728}" srcOrd="0" destOrd="1" presId="urn:microsoft.com/office/officeart/2005/8/layout/list1"/>
    <dgm:cxn modelId="{1D364D8D-2CA6-49EC-B4CC-01044691A392}" srcId="{3D9AB5DB-763F-42C9-AA5B-E5A05168BDFC}" destId="{96E978F6-0A72-4AFE-9D52-74BCBE35D2C8}" srcOrd="1" destOrd="0" parTransId="{F4C5B363-0703-41A0-B0D9-D3C6B95C7F55}" sibTransId="{96B9DFE5-0A0E-4A86-98EC-5C31EFB77C2B}"/>
    <dgm:cxn modelId="{09A91CA5-334D-4EB4-817A-39B20871C6FA}" srcId="{9CB6E64E-56DB-4634-8D93-433CC6C28EFF}" destId="{5CD28CDE-37AB-466D-A5A9-24198E792EEC}" srcOrd="0" destOrd="0" parTransId="{F60D1FDC-5BA0-4773-B0D6-485864108070}" sibTransId="{C0CE64BF-9360-467A-8A62-C1A97B4F0B1A}"/>
    <dgm:cxn modelId="{E2E016A6-667A-4834-AADF-98BB8261E9F8}" type="presOf" srcId="{2FCA01D1-7F24-4582-80C2-09AB510F59D2}" destId="{D0373430-53BC-4BA2-A7E8-A348EAD5C217}" srcOrd="0" destOrd="0" presId="urn:microsoft.com/office/officeart/2005/8/layout/list1"/>
    <dgm:cxn modelId="{28674DB4-0696-4661-8B17-D0A7BCA76A2D}" srcId="{3D9AB5DB-763F-42C9-AA5B-E5A05168BDFC}" destId="{83F4B01A-2425-4E5B-8647-576A253B1970}" srcOrd="0" destOrd="0" parTransId="{B7AF2979-ADF4-4199-A31B-5C95094A9C9C}" sibTransId="{97A4123A-5DDB-4C39-8AD5-2F4143A5B03C}"/>
    <dgm:cxn modelId="{597490C9-2AA0-4467-B3C3-C2B524313FA9}" srcId="{2FCA01D1-7F24-4582-80C2-09AB510F59D2}" destId="{9CB6E64E-56DB-4634-8D93-433CC6C28EFF}" srcOrd="0" destOrd="0" parTransId="{A5379D10-4905-448A-8846-E694A7EAC574}" sibTransId="{C6B868CC-C152-4C00-9FE9-39C3E3713AD5}"/>
    <dgm:cxn modelId="{A05FAEE8-21A8-418D-95F8-043D854827B0}" srcId="{2FCA01D1-7F24-4582-80C2-09AB510F59D2}" destId="{54D02827-FBD9-4D67-AF0B-9A04C830A05B}" srcOrd="2" destOrd="0" parTransId="{704E524F-DB3B-4A0A-85D8-4D8AE7810C45}" sibTransId="{1102DF9C-5981-47E3-A13E-E73D86027ACB}"/>
    <dgm:cxn modelId="{9FD7D6F1-63DA-4D71-BD16-B782438EEA61}" type="presOf" srcId="{83F4B01A-2425-4E5B-8647-576A253B1970}" destId="{F259EF07-0305-4265-B17D-FEBECCF37728}" srcOrd="0" destOrd="0" presId="urn:microsoft.com/office/officeart/2005/8/layout/list1"/>
    <dgm:cxn modelId="{1B6C1BF4-282E-4B04-9CBF-756EA0703A5D}" srcId="{2FCA01D1-7F24-4582-80C2-09AB510F59D2}" destId="{3D9AB5DB-763F-42C9-AA5B-E5A05168BDFC}" srcOrd="1" destOrd="0" parTransId="{D7DFCDA7-6BC7-45D5-A6B3-8720A8E4731D}" sibTransId="{9F59F808-A701-464E-9B2F-C1F02EB88D3A}"/>
    <dgm:cxn modelId="{FFC9F145-0357-41DB-84C6-97F29BE04698}" type="presParOf" srcId="{D0373430-53BC-4BA2-A7E8-A348EAD5C217}" destId="{1511210E-FD07-4A51-907D-2EB3C5626FD0}" srcOrd="0" destOrd="0" presId="urn:microsoft.com/office/officeart/2005/8/layout/list1"/>
    <dgm:cxn modelId="{16883A0C-CA53-4DC1-BD9D-BD886E4390B2}" type="presParOf" srcId="{1511210E-FD07-4A51-907D-2EB3C5626FD0}" destId="{F50CA8F1-6026-4D55-9506-A57973C8DE64}" srcOrd="0" destOrd="0" presId="urn:microsoft.com/office/officeart/2005/8/layout/list1"/>
    <dgm:cxn modelId="{E5EE09DC-B243-4E93-977E-53229D0BAED7}" type="presParOf" srcId="{1511210E-FD07-4A51-907D-2EB3C5626FD0}" destId="{B5205501-48A9-4AB1-83C0-72B995A2E59D}" srcOrd="1" destOrd="0" presId="urn:microsoft.com/office/officeart/2005/8/layout/list1"/>
    <dgm:cxn modelId="{DFC6388C-E672-4CEE-A1B7-3E4658211869}" type="presParOf" srcId="{D0373430-53BC-4BA2-A7E8-A348EAD5C217}" destId="{DDDD2308-0D1B-434C-AFF8-23525B8EFB2B}" srcOrd="1" destOrd="0" presId="urn:microsoft.com/office/officeart/2005/8/layout/list1"/>
    <dgm:cxn modelId="{A869E87D-0655-4632-9330-0757EA47A34F}" type="presParOf" srcId="{D0373430-53BC-4BA2-A7E8-A348EAD5C217}" destId="{5F668531-05CF-44A0-B669-72880FE433B9}" srcOrd="2" destOrd="0" presId="urn:microsoft.com/office/officeart/2005/8/layout/list1"/>
    <dgm:cxn modelId="{9205D0DF-4A5C-4191-9302-FF66224CEBED}" type="presParOf" srcId="{D0373430-53BC-4BA2-A7E8-A348EAD5C217}" destId="{B8FF46F5-27DA-48B2-99B0-556CA9320F73}" srcOrd="3" destOrd="0" presId="urn:microsoft.com/office/officeart/2005/8/layout/list1"/>
    <dgm:cxn modelId="{347655AC-B92C-484B-BD50-BEF5982DA193}" type="presParOf" srcId="{D0373430-53BC-4BA2-A7E8-A348EAD5C217}" destId="{4DA48D86-09C4-4C96-BF75-B68D12EBC4B3}" srcOrd="4" destOrd="0" presId="urn:microsoft.com/office/officeart/2005/8/layout/list1"/>
    <dgm:cxn modelId="{A0BBDA5A-5D2F-4600-A1BD-63E7D2AD0B10}" type="presParOf" srcId="{4DA48D86-09C4-4C96-BF75-B68D12EBC4B3}" destId="{6F053ED1-B169-4648-A718-7ADB11332EC2}" srcOrd="0" destOrd="0" presId="urn:microsoft.com/office/officeart/2005/8/layout/list1"/>
    <dgm:cxn modelId="{4FEADBF4-EB08-4658-BB57-3BE20A394080}" type="presParOf" srcId="{4DA48D86-09C4-4C96-BF75-B68D12EBC4B3}" destId="{F8ECD314-8F56-44E6-9766-82CCB98F2A12}" srcOrd="1" destOrd="0" presId="urn:microsoft.com/office/officeart/2005/8/layout/list1"/>
    <dgm:cxn modelId="{83B2B64B-2BBF-45E5-93E7-4F6DA0D67D23}" type="presParOf" srcId="{D0373430-53BC-4BA2-A7E8-A348EAD5C217}" destId="{E384078A-78D0-468A-892A-BCA8458B8277}" srcOrd="5" destOrd="0" presId="urn:microsoft.com/office/officeart/2005/8/layout/list1"/>
    <dgm:cxn modelId="{CDBDA7F1-37C8-4BE6-986B-14E90E946222}" type="presParOf" srcId="{D0373430-53BC-4BA2-A7E8-A348EAD5C217}" destId="{F259EF07-0305-4265-B17D-FEBECCF37728}" srcOrd="6" destOrd="0" presId="urn:microsoft.com/office/officeart/2005/8/layout/list1"/>
    <dgm:cxn modelId="{1828C86A-5630-47A2-963F-E4930EE316F9}" type="presParOf" srcId="{D0373430-53BC-4BA2-A7E8-A348EAD5C217}" destId="{53B1C3E7-8C5D-4B64-93B2-33D932AA6101}" srcOrd="7" destOrd="0" presId="urn:microsoft.com/office/officeart/2005/8/layout/list1"/>
    <dgm:cxn modelId="{D57E95AF-8A6C-42F4-A01F-067BF2476947}" type="presParOf" srcId="{D0373430-53BC-4BA2-A7E8-A348EAD5C217}" destId="{5DA0BB93-945F-462E-A727-EB36325FE68C}" srcOrd="8" destOrd="0" presId="urn:microsoft.com/office/officeart/2005/8/layout/list1"/>
    <dgm:cxn modelId="{775E5D1F-98A1-44AD-9767-1FABEC98343B}" type="presParOf" srcId="{5DA0BB93-945F-462E-A727-EB36325FE68C}" destId="{F43667FF-603D-44C6-9778-46A68776CE6D}" srcOrd="0" destOrd="0" presId="urn:microsoft.com/office/officeart/2005/8/layout/list1"/>
    <dgm:cxn modelId="{DDB24F22-73B0-45F2-AD32-F86162AA39A2}" type="presParOf" srcId="{5DA0BB93-945F-462E-A727-EB36325FE68C}" destId="{BE996C52-09C7-4829-8330-5EA828035AE9}" srcOrd="1" destOrd="0" presId="urn:microsoft.com/office/officeart/2005/8/layout/list1"/>
    <dgm:cxn modelId="{89472DF9-489B-4B85-8E47-85A981025CA3}" type="presParOf" srcId="{D0373430-53BC-4BA2-A7E8-A348EAD5C217}" destId="{E8B36970-1742-413A-AABB-8021A1FD0D75}" srcOrd="9" destOrd="0" presId="urn:microsoft.com/office/officeart/2005/8/layout/list1"/>
    <dgm:cxn modelId="{68EBF971-877C-46DB-A741-44AACECCAA3A}" type="presParOf" srcId="{D0373430-53BC-4BA2-A7E8-A348EAD5C217}" destId="{078C5135-ACA6-41A1-8720-88664DFAFB3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68531-05CF-44A0-B669-72880FE433B9}">
      <dsp:nvSpPr>
        <dsp:cNvPr id="0" name=""/>
        <dsp:cNvSpPr/>
      </dsp:nvSpPr>
      <dsp:spPr>
        <a:xfrm>
          <a:off x="0" y="312516"/>
          <a:ext cx="10360501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090" tIns="395732" rIns="80409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dirty="0"/>
            <a:t>Vizualizace dat pomocí grafických prvků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dirty="0"/>
            <a:t>Efektivní vyhledávaní a filtrování vzorků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dirty="0"/>
            <a:t>Přehledný design</a:t>
          </a:r>
          <a:endParaRPr lang="en-US" sz="1900" kern="1200" dirty="0"/>
        </a:p>
      </dsp:txBody>
      <dsp:txXfrm>
        <a:off x="0" y="312516"/>
        <a:ext cx="10360501" cy="1436400"/>
      </dsp:txXfrm>
    </dsp:sp>
    <dsp:sp modelId="{B5205501-48A9-4AB1-83C0-72B995A2E59D}">
      <dsp:nvSpPr>
        <dsp:cNvPr id="0" name=""/>
        <dsp:cNvSpPr/>
      </dsp:nvSpPr>
      <dsp:spPr>
        <a:xfrm>
          <a:off x="518025" y="32076"/>
          <a:ext cx="725235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4122" tIns="0" rIns="274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Vytvořit aplikační rozhraní</a:t>
          </a:r>
          <a:endParaRPr lang="en-US" sz="1900" kern="1200" dirty="0"/>
        </a:p>
      </dsp:txBody>
      <dsp:txXfrm>
        <a:off x="545405" y="59456"/>
        <a:ext cx="7197590" cy="506120"/>
      </dsp:txXfrm>
    </dsp:sp>
    <dsp:sp modelId="{F259EF07-0305-4265-B17D-FEBECCF37728}">
      <dsp:nvSpPr>
        <dsp:cNvPr id="0" name=""/>
        <dsp:cNvSpPr/>
      </dsp:nvSpPr>
      <dsp:spPr>
        <a:xfrm>
          <a:off x="0" y="2131956"/>
          <a:ext cx="10360501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090" tIns="395732" rIns="80409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dirty="0"/>
            <a:t>Postupné načítání dat (</a:t>
          </a:r>
          <a:r>
            <a:rPr lang="cs-CZ" sz="1900" kern="1200" dirty="0" err="1"/>
            <a:t>lazy</a:t>
          </a:r>
          <a:r>
            <a:rPr lang="cs-CZ" sz="1900" kern="1200" dirty="0"/>
            <a:t> </a:t>
          </a:r>
          <a:r>
            <a:rPr lang="cs-CZ" sz="1900" kern="1200" dirty="0" err="1"/>
            <a:t>loading</a:t>
          </a:r>
          <a:r>
            <a:rPr lang="cs-CZ" sz="1900" kern="1200" dirty="0"/>
            <a:t>)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dirty="0"/>
            <a:t>Neblokující zobrazení průběhu procesu načítání</a:t>
          </a:r>
          <a:endParaRPr lang="en-US" sz="1900" kern="1200" dirty="0"/>
        </a:p>
      </dsp:txBody>
      <dsp:txXfrm>
        <a:off x="0" y="2131956"/>
        <a:ext cx="10360501" cy="1107225"/>
      </dsp:txXfrm>
    </dsp:sp>
    <dsp:sp modelId="{F8ECD314-8F56-44E6-9766-82CCB98F2A12}">
      <dsp:nvSpPr>
        <dsp:cNvPr id="0" name=""/>
        <dsp:cNvSpPr/>
      </dsp:nvSpPr>
      <dsp:spPr>
        <a:xfrm>
          <a:off x="518025" y="1851516"/>
          <a:ext cx="725235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4122" tIns="0" rIns="274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Efektivní práce s daty</a:t>
          </a:r>
          <a:endParaRPr lang="en-US" sz="1900" kern="1200" dirty="0"/>
        </a:p>
      </dsp:txBody>
      <dsp:txXfrm>
        <a:off x="545405" y="1878896"/>
        <a:ext cx="7197590" cy="506120"/>
      </dsp:txXfrm>
    </dsp:sp>
    <dsp:sp modelId="{078C5135-ACA6-41A1-8720-88664DFAFB35}">
      <dsp:nvSpPr>
        <dsp:cNvPr id="0" name=""/>
        <dsp:cNvSpPr/>
      </dsp:nvSpPr>
      <dsp:spPr>
        <a:xfrm>
          <a:off x="0" y="3622221"/>
          <a:ext cx="10360501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090" tIns="395732" rIns="80409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900" kern="1200" dirty="0"/>
            <a:t>Export dat do obrázku</a:t>
          </a:r>
          <a:endParaRPr lang="en-US" sz="1900" kern="1200" dirty="0"/>
        </a:p>
      </dsp:txBody>
      <dsp:txXfrm>
        <a:off x="0" y="3622221"/>
        <a:ext cx="10360501" cy="807975"/>
      </dsp:txXfrm>
    </dsp:sp>
    <dsp:sp modelId="{BE996C52-09C7-4829-8330-5EA828035AE9}">
      <dsp:nvSpPr>
        <dsp:cNvPr id="0" name=""/>
        <dsp:cNvSpPr/>
      </dsp:nvSpPr>
      <dsp:spPr>
        <a:xfrm>
          <a:off x="518025" y="3341781"/>
          <a:ext cx="725235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4122" tIns="0" rIns="27412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Export dat</a:t>
          </a:r>
          <a:endParaRPr lang="en-US" sz="1900" kern="1200" dirty="0"/>
        </a:p>
      </dsp:txBody>
      <dsp:txXfrm>
        <a:off x="545405" y="3369161"/>
        <a:ext cx="719759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92DAF1D-8F38-49AC-B404-1337A10650DD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cs-CZ" smtClean="0"/>
              <a:pPr algn="r" rtl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084BE0D-C9E9-4F18-B817-2DBEF890598A}" type="datetime1">
              <a:rPr lang="cs-CZ" smtClean="0"/>
              <a:pPr/>
              <a:t>12.05.2025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cs-CZ" smtClean="0"/>
              <a:pPr algn="r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2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52411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13279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82839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55352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33274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E8EA-8252-B37F-C549-8820B731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9E62B4B1-0803-A173-A04E-49A07289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B0E7E6D-A495-633A-5FD1-B27A42FC3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990EF83-3BAE-3076-532D-AC993881F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1404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FD66-D432-76D4-F410-68F33DBE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0A05BA9-B3B2-CEEB-BB4A-F6BB8DD39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236782C-6809-B79E-4937-F8C28F1DF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8031F2A-C7EE-FB4C-C93C-3ACBFB31C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5408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A8B47-8662-1980-5FB4-2C3A730B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D3865077-A3B4-DA83-10B0-8CD4E91FB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DE3FAB2-1965-B33C-F02E-FF9AE16F1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44A5176-A025-BC82-FB9F-E4B4A1F7F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9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298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10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49776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cs-CZ" smtClean="0"/>
              <a:pPr algn="r"/>
              <a:t>11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47548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úhlopříčky"/>
          <p:cNvGrpSpPr/>
          <p:nvPr/>
        </p:nvGrpSpPr>
        <p:grpSpPr>
          <a:xfrm>
            <a:off x="7516444" y="4145283"/>
            <a:ext cx="4686117" cy="2731407"/>
            <a:chOff x="5638800" y="3108960"/>
            <a:chExt cx="3515503" cy="2048555"/>
          </a:xfrm>
        </p:grpSpPr>
        <p:cxnSp>
          <p:nvCxnSpPr>
            <p:cNvPr id="14" name="Přímá spojnice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Přímá spojnice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Přímá spojnice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řádky dole"/>
          <p:cNvGrpSpPr/>
          <p:nvPr/>
        </p:nvGrpSpPr>
        <p:grpSpPr>
          <a:xfrm>
            <a:off x="-8916" y="6057151"/>
            <a:ext cx="5498726" cy="820207"/>
            <a:chOff x="-6689" y="4553748"/>
            <a:chExt cx="4125119" cy="615155"/>
          </a:xfrm>
        </p:grpSpPr>
        <p:sp>
          <p:nvSpPr>
            <p:cNvPr id="9" name="Volný tvar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 sz="2400" dirty="0"/>
            </a:p>
          </p:txBody>
        </p:sp>
        <p:sp>
          <p:nvSpPr>
            <p:cNvPr id="10" name="Volný tvar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 sz="2400" dirty="0"/>
            </a:p>
          </p:txBody>
        </p:sp>
        <p:sp>
          <p:nvSpPr>
            <p:cNvPr id="11" name="Volný tvar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cs-CZ" sz="2400" dirty="0"/>
            </a:p>
          </p:txBody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625176" y="584202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Kliknutím lze upravit styl předlohy.</a:t>
            </a:r>
          </a:p>
        </p:txBody>
      </p:sp>
      <p:sp>
        <p:nvSpPr>
          <p:cNvPr id="22" name="Zástupný symbol pro datum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0C72C7-7C23-471B-84C3-F62DB4DAEA86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23" name="Zástupný symbol pro zápatí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24" name="Zástupný symbol pro číslo snímku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97FAED7-EA56-430A-A59A-1F0DD1E104F4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úhlopříčky"/>
          <p:cNvGrpSpPr/>
          <p:nvPr/>
        </p:nvGrpSpPr>
        <p:grpSpPr>
          <a:xfrm>
            <a:off x="7516444" y="4145283"/>
            <a:ext cx="4686117" cy="2731407"/>
            <a:chOff x="5638800" y="3108960"/>
            <a:chExt cx="3515503" cy="2048555"/>
          </a:xfrm>
        </p:grpSpPr>
        <p:cxnSp>
          <p:nvCxnSpPr>
            <p:cNvPr id="12" name="Přímá spojnice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Přímá spojnice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Přímá spojnice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25177" y="2209803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625176" y="4951268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B988F1E-1E80-404D-8631-D52C3E554537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218884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6500708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E3E14AA-B127-42F2-84D1-3C828C6D36A1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1218884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6500708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9468266-5084-46B1-AE7D-3FD2BD2B9911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BB8BAEF-331C-4937-B468-67D4BE96C70C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CE0C758-0F74-4BF6-8998-29FE5E523F6A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1A2F16C-6E19-48D9-BEAA-BA11174FDB33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cs-CZ" dirty="0"/>
              <a:t>Upravit styly předlohy textu.</a:t>
            </a:r>
          </a:p>
        </p:txBody>
      </p:sp>
      <p:sp>
        <p:nvSpPr>
          <p:cNvPr id="3" name="Zástupný symbol obrázku 2" descr="Prázdný zástupný symbol pro přidání obrázku Klikněte na zástupný symbol a vyberte obrázek, který chcete přidat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2A1F31-67F5-42F9-88C7-BE179E3C0FA6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C5161E4-BEFE-4EC0-9044-752344055020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5389C03-22AF-4514-8013-5326635F7824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řádky vlevo"/>
          <p:cNvGrpSpPr/>
          <p:nvPr/>
        </p:nvGrpSpPr>
        <p:grpSpPr>
          <a:xfrm>
            <a:off x="-15868" y="-3174"/>
            <a:ext cx="819993" cy="5229225"/>
            <a:chOff x="-11906" y="-2381"/>
            <a:chExt cx="615155" cy="3921919"/>
          </a:xfrm>
        </p:grpSpPr>
        <p:sp>
          <p:nvSpPr>
            <p:cNvPr id="10" name="Volný tvar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 sz="2400" dirty="0"/>
            </a:p>
          </p:txBody>
        </p:sp>
        <p:sp>
          <p:nvSpPr>
            <p:cNvPr id="11" name="Volný tvar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 sz="2400" dirty="0"/>
            </a:p>
          </p:txBody>
        </p:sp>
        <p:sp>
          <p:nvSpPr>
            <p:cNvPr id="14" name="Volný tvar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 sz="2400" dirty="0"/>
            </a:p>
          </p:txBody>
        </p:sp>
      </p:grp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218884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218884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cs-CZ" dirty="0"/>
              <a:t>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218882" y="6356354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F7077-770E-4F27-82B0-D7D15FD70F0E}" type="datetime1">
              <a:rPr lang="cs-CZ" smtClean="0"/>
              <a:t>12.05.2025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453501" y="6356354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63650" y="6356354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DB3543-94B5-9540-A9C6-89D5D59C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87E4-9550-45CC-B940-1BAB84318B88}" type="datetime1">
              <a:rPr lang="cs-CZ" smtClean="0"/>
              <a:t>12.05.2025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7D6F254-6F80-4B4E-848C-6E337A2C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1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E935BB7-E917-3F47-BE50-456D94BE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6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625178" y="1804642"/>
            <a:ext cx="8735325" cy="2000251"/>
          </a:xfrm>
        </p:spPr>
        <p:txBody>
          <a:bodyPr rtlCol="0">
            <a:normAutofit/>
          </a:bodyPr>
          <a:lstStyle/>
          <a:p>
            <a:pPr rtl="0"/>
            <a:r>
              <a:rPr lang="cs-CZ" b="1" i="0" dirty="0" err="1">
                <a:solidFill>
                  <a:srgbClr val="262626"/>
                </a:solidFill>
                <a:effectLst/>
                <a:latin typeface="Söhne"/>
              </a:rPr>
              <a:t>GenomeVision</a:t>
            </a:r>
            <a:endParaRPr lang="cs-CZ" b="1" dirty="0">
              <a:solidFill>
                <a:srgbClr val="262626"/>
              </a:solidFill>
            </a:endParaRPr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>
          <a:xfrm>
            <a:off x="1625178" y="3836640"/>
            <a:ext cx="8735325" cy="1752600"/>
          </a:xfrm>
        </p:spPr>
        <p:txBody>
          <a:bodyPr numCol="1" rtlCol="0">
            <a:normAutofit/>
          </a:bodyPr>
          <a:lstStyle/>
          <a:p>
            <a:pPr rtl="0"/>
            <a:r>
              <a:rPr lang="cs-CZ" dirty="0">
                <a:solidFill>
                  <a:srgbClr val="00A499"/>
                </a:solidFill>
              </a:rPr>
              <a:t>Pavel Mikula, </a:t>
            </a:r>
            <a:br>
              <a:rPr lang="cs-CZ" dirty="0">
                <a:solidFill>
                  <a:srgbClr val="00A499"/>
                </a:solidFill>
              </a:rPr>
            </a:br>
            <a:r>
              <a:rPr lang="cs-CZ" sz="2000" dirty="0">
                <a:solidFill>
                  <a:srgbClr val="00A499"/>
                </a:solidFill>
              </a:rPr>
              <a:t>MIK0486</a:t>
            </a:r>
            <a:endParaRPr lang="cs-CZ" dirty="0">
              <a:solidFill>
                <a:srgbClr val="00A499"/>
              </a:solidFill>
            </a:endParaRPr>
          </a:p>
        </p:txBody>
      </p:sp>
      <p:pic>
        <p:nvPicPr>
          <p:cNvPr id="9" name="Picture 8" descr="A black screen with blue text&#10;&#10;Description automatically generated">
            <a:extLst>
              <a:ext uri="{FF2B5EF4-FFF2-40B4-BE49-F238E27FC236}">
                <a16:creationId xmlns:a16="http://schemas.microsoft.com/office/drawing/2014/main" id="{1E56ABE2-3E85-C93C-CE31-08B4598380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821" y="-85147"/>
            <a:ext cx="6032004" cy="13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Téma práce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Zástupný symbol pro obsah 13"/>
          <p:cNvSpPr>
            <a:spLocks noGrp="1"/>
          </p:cNvSpPr>
          <p:nvPr>
            <p:ph idx="1"/>
          </p:nvPr>
        </p:nvSpPr>
        <p:spPr>
          <a:xfrm>
            <a:off x="1218884" y="1701797"/>
            <a:ext cx="10360501" cy="4462272"/>
          </a:xfrm>
        </p:spPr>
        <p:txBody>
          <a:bodyPr rtlCol="0"/>
          <a:lstStyle/>
          <a:p>
            <a:pPr lvl="1"/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Vizualizace dat z </a:t>
            </a:r>
            <a:r>
              <a:rPr lang="cs-CZ" dirty="0" err="1">
                <a:solidFill>
                  <a:schemeClr val="bg1">
                    <a:lumMod val="75000"/>
                    <a:lumOff val="25000"/>
                  </a:schemeClr>
                </a:solidFill>
              </a:rPr>
              <a:t>Microarray</a:t>
            </a:r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technologií </a:t>
            </a:r>
            <a:r>
              <a:rPr lang="cs-CZ" dirty="0" err="1">
                <a:solidFill>
                  <a:schemeClr val="bg1">
                    <a:lumMod val="75000"/>
                    <a:lumOff val="25000"/>
                  </a:schemeClr>
                </a:solidFill>
              </a:rPr>
              <a:t>Agilent</a:t>
            </a:r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a </a:t>
            </a:r>
            <a:r>
              <a:rPr lang="cs-CZ" dirty="0" err="1">
                <a:solidFill>
                  <a:schemeClr val="bg1">
                    <a:lumMod val="75000"/>
                    <a:lumOff val="25000"/>
                  </a:schemeClr>
                </a:solidFill>
              </a:rPr>
              <a:t>Illumina</a:t>
            </a:r>
            <a:endParaRPr lang="cs-CZ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Analýza DNA metylace ve spolupráci s LF UPOL</a:t>
            </a:r>
          </a:p>
          <a:p>
            <a:pPr lvl="1"/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Práce s velkými datovými sety</a:t>
            </a:r>
          </a:p>
          <a:p>
            <a:pPr lvl="1"/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Převedení dat ze sond do čitelné formy</a:t>
            </a:r>
          </a:p>
          <a:p>
            <a:pPr lvl="1"/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Přehledný uživatelské rozhraní</a:t>
            </a: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E9AB649-A42C-97F6-5EF8-EDA46B1B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26542-E6C8-4717-AF01-7280870F3FC8}" type="datetime1">
              <a:rPr lang="cs-CZ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t>12.05.2025</a:t>
            </a:fld>
            <a:endParaRPr lang="cs-CZ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57245CB-8425-DBAB-A733-651F9D37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</a:t>
            </a:r>
          </a:p>
        </p:txBody>
      </p:sp>
      <p:pic>
        <p:nvPicPr>
          <p:cNvPr id="1028" name="Picture 4" descr="Agilent Announced as Instrument Business Outlook 2022 Company of the Year">
            <a:extLst>
              <a:ext uri="{FF2B5EF4-FFF2-40B4-BE49-F238E27FC236}">
                <a16:creationId xmlns:a16="http://schemas.microsoft.com/office/drawing/2014/main" id="{84C8EA1D-5C92-90D9-A574-0B992114A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071" y="4414370"/>
            <a:ext cx="3148609" cy="157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llumina - US Qatar Business Council">
            <a:extLst>
              <a:ext uri="{FF2B5EF4-FFF2-40B4-BE49-F238E27FC236}">
                <a16:creationId xmlns:a16="http://schemas.microsoft.com/office/drawing/2014/main" id="{2DD60C36-FF85-1731-27A6-92FFF0C7A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700" y="4106666"/>
            <a:ext cx="3148610" cy="209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aktické informace – UPdent">
            <a:extLst>
              <a:ext uri="{FF2B5EF4-FFF2-40B4-BE49-F238E27FC236}">
                <a16:creationId xmlns:a16="http://schemas.microsoft.com/office/drawing/2014/main" id="{E7598041-F881-E030-BA42-FD4017FFD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60" y="4689196"/>
            <a:ext cx="2976191" cy="102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>
          <a:xfrm>
            <a:off x="1218884" y="274637"/>
            <a:ext cx="10360501" cy="1223963"/>
          </a:xfrm>
        </p:spPr>
        <p:txBody>
          <a:bodyPr rtlCol="0" anchor="b">
            <a:normAutofit/>
          </a:bodyPr>
          <a:lstStyle/>
          <a:p>
            <a:pPr rtl="0"/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Cíle práce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E9AB649-A42C-97F6-5EF8-EDA46B1B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882" y="6356354"/>
            <a:ext cx="223461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6316EDF-3DD6-4148-862B-4922E9FD0EAD}" type="datetime1">
              <a:rPr lang="cs-CZ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t>12.05.2025</a:t>
            </a:fld>
            <a:endParaRPr lang="cs-CZ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57245CB-8425-DBAB-A733-651F9D37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650" y="6356354"/>
            <a:ext cx="1015735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cs-CZ" dirty="0">
                <a:solidFill>
                  <a:schemeClr val="bg1">
                    <a:lumMod val="85000"/>
                    <a:lumOff val="15000"/>
                  </a:schemeClr>
                </a:solidFill>
              </a:rPr>
              <a:t>2</a:t>
            </a:r>
          </a:p>
        </p:txBody>
      </p:sp>
      <p:graphicFrame>
        <p:nvGraphicFramePr>
          <p:cNvPr id="17" name="Zástupný symbol pro obsah 13">
            <a:extLst>
              <a:ext uri="{FF2B5EF4-FFF2-40B4-BE49-F238E27FC236}">
                <a16:creationId xmlns:a16="http://schemas.microsoft.com/office/drawing/2014/main" id="{B250E3C5-7F9A-9490-3070-1902DCDF0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5422442"/>
              </p:ext>
            </p:extLst>
          </p:nvPr>
        </p:nvGraphicFramePr>
        <p:xfrm>
          <a:off x="1218884" y="1701797"/>
          <a:ext cx="10360501" cy="4462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057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cs-CZ" sz="4000" b="1" dirty="0" err="1">
                <a:solidFill>
                  <a:schemeClr val="bg1">
                    <a:lumMod val="85000"/>
                    <a:lumOff val="15000"/>
                  </a:schemeClr>
                </a:solidFill>
              </a:rPr>
              <a:t>Achritektura</a:t>
            </a:r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systému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E9AB649-A42C-97F6-5EF8-EDA46B1B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5689-3E5B-43DC-A98F-1140628D41F4}" type="datetime1">
              <a:rPr lang="cs-CZ" smtClean="0">
                <a:solidFill>
                  <a:schemeClr val="bg1"/>
                </a:solidFill>
              </a:rPr>
              <a:t>12.05.2025</a:t>
            </a:fld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57245CB-8425-DBAB-A733-651F9D37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Zástupný symbol pro obsah 13">
            <a:extLst>
              <a:ext uri="{FF2B5EF4-FFF2-40B4-BE49-F238E27FC236}">
                <a16:creationId xmlns:a16="http://schemas.microsoft.com/office/drawing/2014/main" id="{3B741DE8-DC40-3F87-AE95-82CA1996E4CE}"/>
              </a:ext>
            </a:extLst>
          </p:cNvPr>
          <p:cNvSpPr txBox="1">
            <a:spLocks/>
          </p:cNvSpPr>
          <p:nvPr/>
        </p:nvSpPr>
        <p:spPr>
          <a:xfrm>
            <a:off x="1218884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Desktopová aplikace (Java 21 + Swing)</a:t>
            </a:r>
          </a:p>
          <a:p>
            <a:pPr lvl="1"/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Architektura typu: </a:t>
            </a:r>
            <a:r>
              <a:rPr lang="cs-CZ" b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Monolit</a:t>
            </a:r>
            <a:endParaRPr lang="cs-CZ" dirty="0">
              <a:solidFill>
                <a:schemeClr val="bg1">
                  <a:lumMod val="75000"/>
                  <a:lumOff val="25000"/>
                </a:schemeClr>
              </a:solidFill>
            </a:endParaRPr>
          </a:p>
          <a:p>
            <a:r>
              <a:rPr lang="cs-CZ" dirty="0">
                <a:solidFill>
                  <a:srgbClr val="404040"/>
                </a:solidFill>
              </a:rPr>
              <a:t>Knihovny</a:t>
            </a:r>
          </a:p>
          <a:p>
            <a:pPr lvl="1"/>
            <a:r>
              <a:rPr lang="cs-CZ" dirty="0" err="1">
                <a:solidFill>
                  <a:srgbClr val="404040"/>
                </a:solidFill>
              </a:rPr>
              <a:t>Lombok</a:t>
            </a:r>
            <a:r>
              <a:rPr lang="cs-CZ" dirty="0">
                <a:solidFill>
                  <a:srgbClr val="404040"/>
                </a:solidFill>
              </a:rPr>
              <a:t>, </a:t>
            </a:r>
            <a:r>
              <a:rPr lang="cs-CZ" dirty="0" err="1">
                <a:solidFill>
                  <a:srgbClr val="404040"/>
                </a:solidFill>
              </a:rPr>
              <a:t>Apache</a:t>
            </a:r>
            <a:r>
              <a:rPr lang="cs-CZ" dirty="0">
                <a:solidFill>
                  <a:srgbClr val="404040"/>
                </a:solidFill>
              </a:rPr>
              <a:t> </a:t>
            </a:r>
            <a:r>
              <a:rPr lang="cs-CZ" dirty="0" err="1">
                <a:solidFill>
                  <a:srgbClr val="404040"/>
                </a:solidFill>
              </a:rPr>
              <a:t>Commons</a:t>
            </a:r>
            <a:r>
              <a:rPr lang="cs-CZ" dirty="0">
                <a:solidFill>
                  <a:srgbClr val="404040"/>
                </a:solidFill>
              </a:rPr>
              <a:t>, Log4j2, </a:t>
            </a:r>
            <a:r>
              <a:rPr lang="cs-CZ" dirty="0" err="1">
                <a:solidFill>
                  <a:srgbClr val="404040"/>
                </a:solidFill>
              </a:rPr>
              <a:t>jUnit</a:t>
            </a:r>
            <a:r>
              <a:rPr lang="cs-CZ" dirty="0">
                <a:solidFill>
                  <a:srgbClr val="404040"/>
                </a:solidFill>
              </a:rPr>
              <a:t>, …</a:t>
            </a:r>
          </a:p>
          <a:p>
            <a:r>
              <a:rPr lang="cs-CZ" dirty="0">
                <a:solidFill>
                  <a:srgbClr val="404040"/>
                </a:solidFill>
              </a:rPr>
              <a:t>Rozdělení vláken pro asynchronní práci</a:t>
            </a:r>
          </a:p>
          <a:p>
            <a:pPr lvl="1"/>
            <a:r>
              <a:rPr lang="cs-CZ" dirty="0">
                <a:solidFill>
                  <a:srgbClr val="404040"/>
                </a:solidFill>
              </a:rPr>
              <a:t>Swing </a:t>
            </a:r>
            <a:r>
              <a:rPr lang="cs-CZ" dirty="0" err="1">
                <a:solidFill>
                  <a:srgbClr val="404040"/>
                </a:solidFill>
              </a:rPr>
              <a:t>workers</a:t>
            </a:r>
            <a:r>
              <a:rPr lang="cs-CZ" dirty="0">
                <a:solidFill>
                  <a:srgbClr val="404040"/>
                </a:solidFill>
              </a:rPr>
              <a:t>, </a:t>
            </a:r>
            <a:r>
              <a:rPr lang="cs-CZ" dirty="0" err="1">
                <a:solidFill>
                  <a:srgbClr val="404040"/>
                </a:solidFill>
              </a:rPr>
              <a:t>Threads</a:t>
            </a:r>
            <a:endParaRPr lang="cs-CZ" dirty="0">
              <a:solidFill>
                <a:srgbClr val="404040"/>
              </a:solidFill>
            </a:endParaRPr>
          </a:p>
          <a:p>
            <a:r>
              <a:rPr lang="cs-CZ" dirty="0">
                <a:solidFill>
                  <a:srgbClr val="404040"/>
                </a:solidFill>
              </a:rPr>
              <a:t>Implementace GUI komponent</a:t>
            </a:r>
          </a:p>
          <a:p>
            <a:endParaRPr lang="cs-CZ" dirty="0">
              <a:solidFill>
                <a:srgbClr val="404040"/>
              </a:solidFill>
            </a:endParaRPr>
          </a:p>
        </p:txBody>
      </p:sp>
      <p:pic>
        <p:nvPicPr>
          <p:cNvPr id="2052" name="Picture 4" descr="What's the Near Future of Java Programming Language?">
            <a:extLst>
              <a:ext uri="{FF2B5EF4-FFF2-40B4-BE49-F238E27FC236}">
                <a16:creationId xmlns:a16="http://schemas.microsoft.com/office/drawing/2014/main" id="{EF138962-D5B6-6357-A6C2-D175ED486C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t="17116" r="15219" b="17269"/>
          <a:stretch/>
        </p:blipFill>
        <p:spPr bwMode="auto">
          <a:xfrm>
            <a:off x="8398669" y="188640"/>
            <a:ext cx="3024336" cy="165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22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Funkcionality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E9AB649-A42C-97F6-5EF8-EDA46B1B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DD77-6D0E-4B32-A480-650872089574}" type="datetime1">
              <a:rPr lang="cs-CZ" smtClean="0">
                <a:solidFill>
                  <a:schemeClr val="bg1"/>
                </a:solidFill>
              </a:rPr>
              <a:t>12.05.2025</a:t>
            </a:fld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57245CB-8425-DBAB-A733-651F9D37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Zástupný symbol pro obsah 13">
            <a:extLst>
              <a:ext uri="{FF2B5EF4-FFF2-40B4-BE49-F238E27FC236}">
                <a16:creationId xmlns:a16="http://schemas.microsoft.com/office/drawing/2014/main" id="{3B741DE8-DC40-3F87-AE95-82CA1996E4CE}"/>
              </a:ext>
            </a:extLst>
          </p:cNvPr>
          <p:cNvSpPr txBox="1">
            <a:spLocks/>
          </p:cNvSpPr>
          <p:nvPr/>
        </p:nvSpPr>
        <p:spPr>
          <a:xfrm>
            <a:off x="1218884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solidFill>
                  <a:srgbClr val="404040"/>
                </a:solidFill>
              </a:rPr>
              <a:t>Načítání dat z CSV metodou </a:t>
            </a:r>
            <a:r>
              <a:rPr lang="cs-CZ" dirty="0" err="1">
                <a:solidFill>
                  <a:srgbClr val="404040"/>
                </a:solidFill>
              </a:rPr>
              <a:t>lazy</a:t>
            </a:r>
            <a:r>
              <a:rPr lang="cs-CZ" dirty="0">
                <a:solidFill>
                  <a:srgbClr val="404040"/>
                </a:solidFill>
              </a:rPr>
              <a:t> </a:t>
            </a:r>
            <a:r>
              <a:rPr lang="cs-CZ" dirty="0" err="1">
                <a:solidFill>
                  <a:srgbClr val="404040"/>
                </a:solidFill>
              </a:rPr>
              <a:t>loading</a:t>
            </a:r>
            <a:endParaRPr lang="cs-CZ" dirty="0">
              <a:solidFill>
                <a:srgbClr val="404040"/>
              </a:solidFill>
            </a:endParaRPr>
          </a:p>
          <a:p>
            <a:pPr lvl="1"/>
            <a:r>
              <a:rPr lang="cs-CZ" dirty="0">
                <a:solidFill>
                  <a:srgbClr val="404040"/>
                </a:solidFill>
              </a:rPr>
              <a:t>Nejprve načteny názvy souboru, data až když jsou třeba</a:t>
            </a:r>
          </a:p>
          <a:p>
            <a:r>
              <a:rPr lang="cs-CZ" dirty="0">
                <a:solidFill>
                  <a:srgbClr val="404040"/>
                </a:solidFill>
              </a:rPr>
              <a:t>Interaktivní prezentace matice dat</a:t>
            </a:r>
          </a:p>
          <a:p>
            <a:pPr lvl="1"/>
            <a:r>
              <a:rPr lang="cs-CZ" dirty="0">
                <a:solidFill>
                  <a:srgbClr val="404040"/>
                </a:solidFill>
              </a:rPr>
              <a:t>Přibližování a přesouvání</a:t>
            </a:r>
          </a:p>
          <a:p>
            <a:r>
              <a:rPr lang="cs-CZ" dirty="0">
                <a:solidFill>
                  <a:srgbClr val="404040"/>
                </a:solidFill>
              </a:rPr>
              <a:t>Export grafické matice do PNG</a:t>
            </a:r>
          </a:p>
          <a:p>
            <a:r>
              <a:rPr lang="cs-CZ" dirty="0">
                <a:solidFill>
                  <a:srgbClr val="404040"/>
                </a:solidFill>
              </a:rPr>
              <a:t>Zobrazení frekvence metylace v 2D grafu</a:t>
            </a:r>
          </a:p>
        </p:txBody>
      </p:sp>
    </p:spTree>
    <p:extLst>
      <p:ext uri="{BB962C8B-B14F-4D97-AF65-F5344CB8AC3E}">
        <p14:creationId xmlns:p14="http://schemas.microsoft.com/office/powerpoint/2010/main" val="288490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C1DBA-74D1-7C1D-9D3C-6B80A879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>
            <a:extLst>
              <a:ext uri="{FF2B5EF4-FFF2-40B4-BE49-F238E27FC236}">
                <a16:creationId xmlns:a16="http://schemas.microsoft.com/office/drawing/2014/main" id="{0DEE40AA-3FBA-8143-1301-0F2346A6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Testování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2C36035-847B-8AA3-3858-C8DB565B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DD77-6D0E-4B32-A480-650872089574}" type="datetime1">
              <a:rPr lang="cs-CZ" smtClean="0">
                <a:solidFill>
                  <a:schemeClr val="bg1"/>
                </a:solidFill>
              </a:rPr>
              <a:t>12.05.2025</a:t>
            </a:fld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B3279D9-58BE-1A62-6CDA-354C69F7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Zástupný symbol pro obsah 13">
            <a:extLst>
              <a:ext uri="{FF2B5EF4-FFF2-40B4-BE49-F238E27FC236}">
                <a16:creationId xmlns:a16="http://schemas.microsoft.com/office/drawing/2014/main" id="{5C0E51D4-BADA-3683-E55E-0A1F28AA5527}"/>
              </a:ext>
            </a:extLst>
          </p:cNvPr>
          <p:cNvSpPr txBox="1">
            <a:spLocks/>
          </p:cNvSpPr>
          <p:nvPr/>
        </p:nvSpPr>
        <p:spPr>
          <a:xfrm>
            <a:off x="1218884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solidFill>
                  <a:srgbClr val="404040"/>
                </a:solidFill>
              </a:rPr>
              <a:t>Testování pomocí CI/CD</a:t>
            </a:r>
          </a:p>
          <a:p>
            <a:pPr lvl="1"/>
            <a:r>
              <a:rPr lang="cs-CZ" dirty="0">
                <a:solidFill>
                  <a:srgbClr val="404040"/>
                </a:solidFill>
              </a:rPr>
              <a:t>Platforma: </a:t>
            </a:r>
            <a:r>
              <a:rPr lang="cs-CZ" b="1" dirty="0" err="1">
                <a:solidFill>
                  <a:srgbClr val="404040"/>
                </a:solidFill>
              </a:rPr>
              <a:t>Github</a:t>
            </a:r>
            <a:endParaRPr lang="cs-CZ" b="1" dirty="0">
              <a:solidFill>
                <a:srgbClr val="404040"/>
              </a:solidFill>
            </a:endParaRPr>
          </a:p>
          <a:p>
            <a:r>
              <a:rPr lang="cs-CZ" dirty="0">
                <a:solidFill>
                  <a:srgbClr val="404040"/>
                </a:solidFill>
              </a:rPr>
              <a:t>Knihovny:</a:t>
            </a:r>
          </a:p>
          <a:p>
            <a:pPr lvl="1"/>
            <a:r>
              <a:rPr lang="cs-CZ" dirty="0" err="1">
                <a:solidFill>
                  <a:srgbClr val="404040"/>
                </a:solidFill>
              </a:rPr>
              <a:t>Surefire</a:t>
            </a:r>
            <a:r>
              <a:rPr lang="cs-CZ" dirty="0">
                <a:solidFill>
                  <a:srgbClr val="404040"/>
                </a:solidFill>
              </a:rPr>
              <a:t>, </a:t>
            </a:r>
            <a:r>
              <a:rPr lang="cs-CZ" dirty="0" err="1">
                <a:solidFill>
                  <a:srgbClr val="404040"/>
                </a:solidFill>
              </a:rPr>
              <a:t>JaCoCo</a:t>
            </a:r>
            <a:r>
              <a:rPr lang="cs-CZ" dirty="0">
                <a:solidFill>
                  <a:srgbClr val="404040"/>
                </a:solidFill>
              </a:rPr>
              <a:t>, </a:t>
            </a:r>
            <a:r>
              <a:rPr lang="cs-CZ" dirty="0" err="1">
                <a:solidFill>
                  <a:srgbClr val="404040"/>
                </a:solidFill>
              </a:rPr>
              <a:t>jUnit</a:t>
            </a:r>
            <a:endParaRPr lang="cs-CZ" dirty="0">
              <a:solidFill>
                <a:srgbClr val="404040"/>
              </a:solidFill>
            </a:endParaRPr>
          </a:p>
          <a:p>
            <a:r>
              <a:rPr lang="cs-CZ" dirty="0">
                <a:solidFill>
                  <a:srgbClr val="404040"/>
                </a:solidFill>
              </a:rPr>
              <a:t>Strategie:</a:t>
            </a:r>
          </a:p>
          <a:p>
            <a:pPr lvl="1"/>
            <a:r>
              <a:rPr lang="cs-CZ" dirty="0">
                <a:solidFill>
                  <a:srgbClr val="404040"/>
                </a:solidFill>
              </a:rPr>
              <a:t>Při </a:t>
            </a:r>
            <a:r>
              <a:rPr lang="cs-CZ" dirty="0" err="1">
                <a:solidFill>
                  <a:srgbClr val="404040"/>
                </a:solidFill>
              </a:rPr>
              <a:t>commitu</a:t>
            </a:r>
            <a:endParaRPr lang="cs-CZ" dirty="0">
              <a:solidFill>
                <a:srgbClr val="404040"/>
              </a:solidFill>
            </a:endParaRPr>
          </a:p>
          <a:p>
            <a:pPr lvl="1"/>
            <a:r>
              <a:rPr lang="cs-CZ" dirty="0">
                <a:solidFill>
                  <a:srgbClr val="404040"/>
                </a:solidFill>
              </a:rPr>
              <a:t>Manuálně při vývoji</a:t>
            </a:r>
          </a:p>
          <a:p>
            <a:endParaRPr lang="cs-CZ" dirty="0">
              <a:solidFill>
                <a:srgbClr val="404040"/>
              </a:solidFill>
            </a:endParaRP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F7536C72-98DE-42FE-0816-32D345A23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102" y="896788"/>
            <a:ext cx="3985927" cy="27998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6B6D59FC-7F17-7D46-FC01-1DC564F44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573" y="3348249"/>
            <a:ext cx="5337944" cy="27440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485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96283-ED76-CFB9-46B2-10F0BF716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>
            <a:extLst>
              <a:ext uri="{FF2B5EF4-FFF2-40B4-BE49-F238E27FC236}">
                <a16:creationId xmlns:a16="http://schemas.microsoft.com/office/drawing/2014/main" id="{191B4D2F-BC3C-4A48-2D39-B89FECC8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Konfigurace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313CD2A-0F85-5B66-F97E-6955C287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DD77-6D0E-4B32-A480-650872089574}" type="datetime1">
              <a:rPr lang="cs-CZ" smtClean="0">
                <a:solidFill>
                  <a:schemeClr val="bg1"/>
                </a:solidFill>
              </a:rPr>
              <a:t>12.05.2025</a:t>
            </a:fld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332AD84-C09E-9203-DA23-BA31F438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Zástupný symbol pro obsah 13">
            <a:extLst>
              <a:ext uri="{FF2B5EF4-FFF2-40B4-BE49-F238E27FC236}">
                <a16:creationId xmlns:a16="http://schemas.microsoft.com/office/drawing/2014/main" id="{9CF79CB2-0963-BACA-4D62-8719A56DC9A9}"/>
              </a:ext>
            </a:extLst>
          </p:cNvPr>
          <p:cNvSpPr txBox="1">
            <a:spLocks/>
          </p:cNvSpPr>
          <p:nvPr/>
        </p:nvSpPr>
        <p:spPr>
          <a:xfrm>
            <a:off x="1218884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solidFill>
                  <a:srgbClr val="404040"/>
                </a:solidFill>
              </a:rPr>
              <a:t>Verzování: </a:t>
            </a:r>
            <a:r>
              <a:rPr lang="cs-CZ" b="1" dirty="0">
                <a:solidFill>
                  <a:srgbClr val="404040"/>
                </a:solidFill>
              </a:rPr>
              <a:t>GitHub</a:t>
            </a:r>
          </a:p>
          <a:p>
            <a:r>
              <a:rPr lang="cs-CZ" dirty="0">
                <a:solidFill>
                  <a:srgbClr val="404040"/>
                </a:solidFill>
              </a:rPr>
              <a:t>Build systém: </a:t>
            </a:r>
            <a:r>
              <a:rPr lang="cs-CZ" b="1" dirty="0" err="1">
                <a:solidFill>
                  <a:srgbClr val="404040"/>
                </a:solidFill>
              </a:rPr>
              <a:t>Maven</a:t>
            </a:r>
            <a:endParaRPr lang="cs-CZ" b="1" dirty="0">
              <a:solidFill>
                <a:srgbClr val="404040"/>
              </a:solidFill>
            </a:endParaRPr>
          </a:p>
          <a:p>
            <a:r>
              <a:rPr lang="cs-CZ" dirty="0">
                <a:solidFill>
                  <a:srgbClr val="404040"/>
                </a:solidFill>
              </a:rPr>
              <a:t>Konfigurace: </a:t>
            </a:r>
            <a:r>
              <a:rPr lang="cs-CZ" i="1" dirty="0">
                <a:solidFill>
                  <a:srgbClr val="404040"/>
                </a:solidFill>
              </a:rPr>
              <a:t>.</a:t>
            </a:r>
            <a:r>
              <a:rPr lang="cs-CZ" i="1" dirty="0" err="1">
                <a:solidFill>
                  <a:srgbClr val="404040"/>
                </a:solidFill>
              </a:rPr>
              <a:t>properties</a:t>
            </a:r>
            <a:endParaRPr lang="cs-CZ" i="1" dirty="0">
              <a:solidFill>
                <a:srgbClr val="404040"/>
              </a:solidFill>
            </a:endParaRPr>
          </a:p>
          <a:p>
            <a:r>
              <a:rPr lang="cs-CZ" dirty="0">
                <a:solidFill>
                  <a:srgbClr val="404040"/>
                </a:solidFill>
              </a:rPr>
              <a:t>CI/CD: viz. další slide</a:t>
            </a: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42A34BF4-A0F3-5465-2F98-7061E8BAA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4332" y="124217"/>
            <a:ext cx="6625569" cy="660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7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C0CF7-1DD3-D34B-D349-86837C656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>
            <a:extLst>
              <a:ext uri="{FF2B5EF4-FFF2-40B4-BE49-F238E27FC236}">
                <a16:creationId xmlns:a16="http://schemas.microsoft.com/office/drawing/2014/main" id="{B127AFFC-5CAA-26C6-2CBA-1ED1B97B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CI/CD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A871EA8-9529-3E68-4DE2-DE61ECE5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DD77-6D0E-4B32-A480-650872089574}" type="datetime1">
              <a:rPr lang="cs-CZ" smtClean="0">
                <a:solidFill>
                  <a:schemeClr val="bg1"/>
                </a:solidFill>
              </a:rPr>
              <a:t>12.05.2025</a:t>
            </a:fld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A325EA36-E8C1-8BE6-4129-FDFE3EF9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Zástupný symbol pro obsah 13">
            <a:extLst>
              <a:ext uri="{FF2B5EF4-FFF2-40B4-BE49-F238E27FC236}">
                <a16:creationId xmlns:a16="http://schemas.microsoft.com/office/drawing/2014/main" id="{1DC24A7D-BD97-6CA0-7EDB-3E5C85B435E9}"/>
              </a:ext>
            </a:extLst>
          </p:cNvPr>
          <p:cNvSpPr txBox="1">
            <a:spLocks/>
          </p:cNvSpPr>
          <p:nvPr/>
        </p:nvSpPr>
        <p:spPr>
          <a:xfrm>
            <a:off x="1218884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solidFill>
                  <a:srgbClr val="404040"/>
                </a:solidFill>
              </a:rPr>
              <a:t>Automatické spouštění</a:t>
            </a:r>
          </a:p>
          <a:p>
            <a:r>
              <a:rPr lang="cs-CZ" dirty="0">
                <a:solidFill>
                  <a:srgbClr val="404040"/>
                </a:solidFill>
              </a:rPr>
              <a:t>Specifická pravidla</a:t>
            </a:r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D92F7021-3C29-935E-88C6-13D89B8A6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725" y="854601"/>
            <a:ext cx="3578151" cy="53012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4775E9F1-005C-8753-4BC7-CF4F6D095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00" y="2681415"/>
            <a:ext cx="4524144" cy="348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7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Obrázky z aplikace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E9AB649-A42C-97F6-5EF8-EDA46B1B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AABF-89A5-4EEC-BF29-86E123FD1ED8}" type="datetime1">
              <a:rPr lang="cs-CZ" smtClean="0">
                <a:solidFill>
                  <a:schemeClr val="bg1"/>
                </a:solidFill>
              </a:rPr>
              <a:t>12.05.2025</a:t>
            </a:fld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57245CB-8425-DBAB-A733-651F9D37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16A84225-43C4-F64C-EF01-38F3D7FE5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62247" y="692696"/>
            <a:ext cx="6017138" cy="4529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904B1060-C0E0-EFB8-7525-566E06688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41884" y="1891669"/>
            <a:ext cx="5850525" cy="440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99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cs-CZ" sz="40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Závěr</a:t>
            </a:r>
            <a:endParaRPr lang="en-GB" sz="40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E9AB649-A42C-97F6-5EF8-EDA46B1B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1EC9-6021-4726-9ABD-B2336DC4FD47}" type="datetime1">
              <a:rPr lang="cs-CZ" smtClean="0">
                <a:solidFill>
                  <a:schemeClr val="bg1"/>
                </a:solidFill>
              </a:rPr>
              <a:t>12.05.2025</a:t>
            </a:fld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57245CB-8425-DBAB-A733-651F9D37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8" name="Zástupný symbol pro obsah 13">
            <a:extLst>
              <a:ext uri="{FF2B5EF4-FFF2-40B4-BE49-F238E27FC236}">
                <a16:creationId xmlns:a16="http://schemas.microsoft.com/office/drawing/2014/main" id="{3B741DE8-DC40-3F87-AE95-82CA1996E4CE}"/>
              </a:ext>
            </a:extLst>
          </p:cNvPr>
          <p:cNvSpPr txBox="1">
            <a:spLocks/>
          </p:cNvSpPr>
          <p:nvPr/>
        </p:nvSpPr>
        <p:spPr>
          <a:xfrm>
            <a:off x="1218884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Plně funkční uživatelské rozhraní</a:t>
            </a:r>
          </a:p>
          <a:p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Využití moderního způsobu pro tvorbu aplikací</a:t>
            </a:r>
          </a:p>
          <a:p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Rozdělení aplikace do několika vrstev</a:t>
            </a:r>
          </a:p>
          <a:p>
            <a:r>
              <a:rPr lang="cs-CZ" dirty="0">
                <a:solidFill>
                  <a:schemeClr val="bg1">
                    <a:lumMod val="75000"/>
                    <a:lumOff val="25000"/>
                  </a:schemeClr>
                </a:solidFill>
              </a:rPr>
              <a:t>Základ pro analýzu a zpracování DNA dat</a:t>
            </a:r>
          </a:p>
        </p:txBody>
      </p:sp>
    </p:spTree>
    <p:extLst>
      <p:ext uri="{BB962C8B-B14F-4D97-AF65-F5344CB8AC3E}">
        <p14:creationId xmlns:p14="http://schemas.microsoft.com/office/powerpoint/2010/main" val="320965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1B69-CC2B-F17B-02D2-A05A4FA6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177" y="1196753"/>
            <a:ext cx="8938472" cy="3777386"/>
          </a:xfrm>
        </p:spPr>
        <p:txBody>
          <a:bodyPr anchor="ctr"/>
          <a:lstStyle/>
          <a:p>
            <a:pPr algn="ctr"/>
            <a:r>
              <a:rPr lang="cs-CZ" sz="5400" b="1" dirty="0">
                <a:solidFill>
                  <a:srgbClr val="2626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Děkuji za pozornost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A4833-B620-C48D-59BA-2E3F918D5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rgbClr val="00A499"/>
                </a:solidFill>
              </a:rPr>
              <a:t>Pavel Mikula, </a:t>
            </a:r>
            <a:br>
              <a:rPr lang="cs-CZ" dirty="0">
                <a:solidFill>
                  <a:srgbClr val="00A499"/>
                </a:solidFill>
              </a:rPr>
            </a:br>
            <a:r>
              <a:rPr lang="cs-CZ" sz="2000" dirty="0">
                <a:solidFill>
                  <a:srgbClr val="00A499"/>
                </a:solidFill>
              </a:rPr>
              <a:t>MIK0486</a:t>
            </a:r>
            <a:endParaRPr lang="cs-CZ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DBA9A-3CDE-578B-626F-04F06FC7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A432-B41F-47BA-A73D-1D96617F2313}" type="datetime1">
              <a:rPr lang="cs-CZ" smtClean="0">
                <a:solidFill>
                  <a:schemeClr val="tx1"/>
                </a:solidFill>
              </a:rPr>
              <a:t>12.05.2025</a:t>
            </a:fld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FED10-D5A3-705B-B3FB-7E50C659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r>
              <a:rPr lang="cs-CZ" dirty="0">
                <a:solidFill>
                  <a:schemeClr val="tx1"/>
                </a:solidFill>
              </a:rPr>
              <a:t>12</a:t>
            </a:r>
          </a:p>
        </p:txBody>
      </p:sp>
      <p:pic>
        <p:nvPicPr>
          <p:cNvPr id="6" name="Picture 5" descr="A black screen with blue text&#10;&#10;Description automatically generated">
            <a:extLst>
              <a:ext uri="{FF2B5EF4-FFF2-40B4-BE49-F238E27FC236}">
                <a16:creationId xmlns:a16="http://schemas.microsoft.com/office/drawing/2014/main" id="{C0AD215E-43A0-FEAB-F550-7A1529B4B1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821" y="-85147"/>
            <a:ext cx="6032004" cy="13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3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ogie (16:9)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28_TF02787990_TF02787990.potx" id="{41430103-F1DF-4760-9877-C776298C88DB}" vid="{586A876F-1D1B-4FC4-9F0D-A7C5E174B1DA}"/>
    </a:ext>
  </a:extLst>
</a:theme>
</file>

<file path=ppt/theme/theme2.xml><?xml version="1.0" encoding="utf-8"?>
<a:theme xmlns:a="http://schemas.openxmlformats.org/drawingml/2006/main" name="Motiv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Prezentace s trojitými čarami připomínajícími elektrický obvod (širokoúhlý formát)</Template>
  <TotalTime>1197</TotalTime>
  <Words>267</Words>
  <Application>Microsoft Office PowerPoint</Application>
  <PresentationFormat>Vlastní</PresentationFormat>
  <Paragraphs>89</Paragraphs>
  <Slides>12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Calibri</vt:lpstr>
      <vt:lpstr>Söhne</vt:lpstr>
      <vt:lpstr>Technologie (16:9)</vt:lpstr>
      <vt:lpstr>Prezentace aplikace PowerPoint</vt:lpstr>
      <vt:lpstr>GenomeVision</vt:lpstr>
      <vt:lpstr>Téma práce</vt:lpstr>
      <vt:lpstr>Cíle práce</vt:lpstr>
      <vt:lpstr>Achritektura systému</vt:lpstr>
      <vt:lpstr>Funkcionality</vt:lpstr>
      <vt:lpstr>Testování</vt:lpstr>
      <vt:lpstr>Konfigurace</vt:lpstr>
      <vt:lpstr>CI/CD</vt:lpstr>
      <vt:lpstr>Obrázky z aplikace</vt:lpstr>
      <vt:lpstr>Závěr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and its Impact on Society</dc:title>
  <dc:creator>Mikula Pavel</dc:creator>
  <cp:lastModifiedBy>Mikula Pavel</cp:lastModifiedBy>
  <cp:revision>74</cp:revision>
  <dcterms:created xsi:type="dcterms:W3CDTF">2023-05-23T15:58:02Z</dcterms:created>
  <dcterms:modified xsi:type="dcterms:W3CDTF">2025-05-11T22:17:09Z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